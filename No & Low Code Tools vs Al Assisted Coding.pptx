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aquel Varga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4T03:01:06.938">
    <p:pos x="6000" y="0"/>
    <p:text>Crear repo de prueba para el taller y poner el link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b59b328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1b59b328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1b59b328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1b59b328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1b59b328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1b59b328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1b59b3286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1b59b3286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b59b3286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b59b3286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b59b3286_0_9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1b59b3286_0_9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1b59b3286_0_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1b59b3286_0_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1b59b3286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1b59b3286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b59b3286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b59b3286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b59b3286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1b59b3286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1b59b3286_0_1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1b59b3286_0_1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b59b3286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1b59b3286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1b59b3286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1b59b3286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hyperlink" Target="https://github.com/raquelvargas16/sales-forecasting-demo.git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medium.com/@fujoconsulting/introduction-7bd6898cb0df" TargetMode="External"/><Relationship Id="rId4" Type="http://schemas.openxmlformats.org/officeDocument/2006/relationships/hyperlink" Target="https://aws.amazon.com/what-is/no-code-machine-learning/" TargetMode="External"/><Relationship Id="rId5" Type="http://schemas.openxmlformats.org/officeDocument/2006/relationships/hyperlink" Target="https://www.databricks.com/product/automl" TargetMode="External"/><Relationship Id="rId6" Type="http://schemas.openxmlformats.org/officeDocument/2006/relationships/hyperlink" Target="https://www.databricks.com/resources/demos/videos/data-science-and-ai/how-to-use-automl-to-develop-ml-models" TargetMode="External"/><Relationship Id="rId7" Type="http://schemas.openxmlformats.org/officeDocument/2006/relationships/hyperlink" Target="https://www.anthropic.com/research/AI-assistance-coding-skil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 &amp; Low Code Tools vs Al Assisted Coding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Raquel Vargas - Data Scientist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Junio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 del taller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16075"/>
            <a:ext cx="5177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👾</a:t>
            </a:r>
            <a:r>
              <a:rPr lang="es"/>
              <a:t>Icebreaker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Bloque 1:</a:t>
            </a:r>
            <a:r>
              <a:rPr lang="es"/>
              <a:t> Definiciones + AI-Assisted Coding con LLMs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Bloque 2:</a:t>
            </a:r>
            <a:r>
              <a:rPr lang="es"/>
              <a:t> C</a:t>
            </a:r>
            <a:r>
              <a:rPr lang="es"/>
              <a:t>ódigo en vivo en VS Code &amp; Copilot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☕️</a:t>
            </a:r>
            <a:r>
              <a:rPr lang="es"/>
              <a:t>Break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Bloque 2:</a:t>
            </a:r>
            <a:r>
              <a:rPr lang="es"/>
              <a:t> Herramientas Low&amp;No-Code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Bloque 4:</a:t>
            </a:r>
            <a:r>
              <a:rPr lang="es"/>
              <a:t> Práctica con Databricks AutoML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6296075" y="2016075"/>
            <a:ext cx="1512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(5 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(30 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(40 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(5 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(30 min)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(40 min)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1: Definiciones + AI-Assisted Coding con LLMs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6262"/>
              <a:buNone/>
            </a:pPr>
            <a:r>
              <a:rPr lang="es" sz="2140"/>
              <a:t>Ampliando capacidades: automatización y asistencia inteligente en desarrollo"</a:t>
            </a:r>
            <a:endParaRPr sz="214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73"/>
              <a:t>Low/No-Code</a:t>
            </a:r>
            <a:endParaRPr b="1" sz="247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73"/>
              <a:t>Herramientas</a:t>
            </a:r>
            <a:r>
              <a:rPr lang="es" sz="2473"/>
              <a:t> que permiten desarrollo r</a:t>
            </a:r>
            <a:r>
              <a:rPr lang="es" sz="2473"/>
              <a:t>ápido con codificación mínima. Suelen tener interfaces visuales con funcionalidades de arrastrar y soltar.</a:t>
            </a:r>
            <a:endParaRPr sz="2473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73"/>
              <a:t>Ejemplos:</a:t>
            </a:r>
            <a:endParaRPr sz="2473"/>
          </a:p>
          <a:p>
            <a:pPr indent="-30318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 sz="2473"/>
              <a:t>Databricks AutoML</a:t>
            </a:r>
            <a:endParaRPr sz="2473"/>
          </a:p>
          <a:p>
            <a:pPr indent="-3031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473"/>
              <a:t>Google Cloud AutoML</a:t>
            </a:r>
            <a:endParaRPr sz="2473"/>
          </a:p>
          <a:p>
            <a:pPr indent="-30318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473"/>
              <a:t>AWS SageMaker Canvas</a:t>
            </a:r>
            <a:endParaRPr sz="247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AI-Assisted Coding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Modelos LLM que asisten en el desarrollo de código mediante autocompletado inteligente, generación de funciones, tests, documentación,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Ejemplos: GitHub Copilot, Claude, ChatGPT, Qwen, DeepSeek, Kimi</a:t>
            </a:r>
            <a:endParaRPr/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725" y="3238737"/>
            <a:ext cx="943400" cy="49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450" y="4071663"/>
            <a:ext cx="1052359" cy="5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3036" y="4017599"/>
            <a:ext cx="1250789" cy="6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0500" y="4101288"/>
            <a:ext cx="943400" cy="530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20000" y="4565000"/>
            <a:ext cx="812674" cy="1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3825" y="4125626"/>
            <a:ext cx="812675" cy="427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02725" y="4071675"/>
            <a:ext cx="567826" cy="3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64150" y="4424325"/>
            <a:ext cx="567825" cy="31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11">
            <a:alphaModFix/>
          </a:blip>
          <a:srcRect b="35106" l="15222" r="18597" t="28068"/>
          <a:stretch/>
        </p:blipFill>
        <p:spPr>
          <a:xfrm>
            <a:off x="7165950" y="4232227"/>
            <a:ext cx="616486" cy="1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Ventajas y desventajas de usar LLMs en la generaci</a:t>
            </a:r>
            <a:r>
              <a:rPr lang="es" sz="1800"/>
              <a:t>ón de código</a:t>
            </a:r>
            <a:endParaRPr sz="1800"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8"/>
              <a:t>🟢 </a:t>
            </a:r>
            <a:r>
              <a:rPr b="1" lang="es" sz="1408"/>
              <a:t>Pros </a:t>
            </a:r>
            <a:endParaRPr b="1" sz="1408"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Contexto</a:t>
            </a:r>
            <a:r>
              <a:rPr lang="es"/>
              <a:t>: el asistente entiende todo el proyecto y no solo l</a:t>
            </a:r>
            <a:r>
              <a:rPr lang="es"/>
              <a:t>íneas aisladas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Velocidad</a:t>
            </a:r>
            <a:r>
              <a:rPr lang="es"/>
              <a:t>: genera funciones complejas en segundos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Flexibilidad</a:t>
            </a:r>
            <a:r>
              <a:rPr lang="es"/>
              <a:t>: adapta sugerencias a tu estilo de código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Educación</a:t>
            </a:r>
            <a:r>
              <a:rPr lang="es"/>
              <a:t>: explica el código mientras lo genera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s"/>
              <a:t>Versatilidad</a:t>
            </a:r>
            <a:r>
              <a:rPr lang="es"/>
              <a:t>: permite trabajar con diferentes lenguajes, Python, C++, SQL, JavaScript…</a:t>
            </a:r>
            <a:endParaRPr/>
          </a:p>
        </p:txBody>
      </p:sp>
      <p:sp>
        <p:nvSpPr>
          <p:cNvPr id="122" name="Google Shape;122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🔴</a:t>
            </a:r>
            <a:r>
              <a:rPr b="1" lang="es"/>
              <a:t> </a:t>
            </a:r>
            <a:r>
              <a:rPr b="1" lang="es"/>
              <a:t>Contras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Alucinaciones</a:t>
            </a:r>
            <a:r>
              <a:rPr lang="es"/>
              <a:t>: el modelo puede hacer imports que no existen o lógica incorrecta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Seguridad</a:t>
            </a:r>
            <a:r>
              <a:rPr lang="es"/>
              <a:t>: riesgo a exponer API Keys, contraseñas o información sensible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Miopía de arquitectura</a:t>
            </a:r>
            <a:r>
              <a:rPr lang="es"/>
              <a:t>: el asistente no es capaz de conocer la arquitectura completa de la solución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s"/>
              <a:t>Costo</a:t>
            </a:r>
            <a:r>
              <a:rPr lang="es"/>
              <a:t>: se debe controlar el uso de tokens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 queda </a:t>
            </a:r>
            <a:r>
              <a:rPr b="1" lang="es"/>
              <a:t>corto para problemas complejos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40"/>
              <a:t>AI Assisted Coding vs Programación tradicional: ¿cuándo usar cada uno?</a:t>
            </a:r>
            <a:endParaRPr sz="2040"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🤖</a:t>
            </a:r>
            <a:r>
              <a:rPr b="1" lang="es"/>
              <a:t>AI Assisted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Test y documentaci</a:t>
            </a:r>
            <a:r>
              <a:rPr lang="es"/>
              <a:t>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Refactoring de patrones repetitivos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Errores de sintaxis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Búsqueda de bugs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Código de “arranque” o boilerplate</a:t>
            </a:r>
            <a:endParaRPr/>
          </a:p>
        </p:txBody>
      </p:sp>
      <p:sp>
        <p:nvSpPr>
          <p:cNvPr id="129" name="Google Shape;129;p1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💻</a:t>
            </a:r>
            <a:r>
              <a:rPr b="1" lang="es"/>
              <a:t>Programaci</a:t>
            </a:r>
            <a:r>
              <a:rPr b="1" lang="es"/>
              <a:t>ón tradicional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Decisiones críticas de arquitectura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Seguridad crítica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Lógica de negocio compleja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Optimización de rendimiento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Necesidad de conocimiento de negocio específico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Aprender algo por primera vez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2: Código en vivo con Copilot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730000" y="1318650"/>
            <a:ext cx="33009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</a:t>
            </a:r>
            <a:endParaRPr/>
          </a:p>
        </p:txBody>
      </p:sp>
      <p:sp>
        <p:nvSpPr>
          <p:cNvPr id="140" name="Google Shape;140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Instrucciones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Abrir Visual Studio Code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Clonar el repositorio </a:t>
            </a:r>
            <a:r>
              <a:rPr lang="es" sz="1400" u="sng">
                <a:solidFill>
                  <a:schemeClr val="hlink"/>
                </a:solidFill>
                <a:hlinkClick r:id="rId4"/>
              </a:rPr>
              <a:t>sales-forecasting-demo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Seguir el código en vivo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1" name="Google Shape;141;p20"/>
          <p:cNvSpPr txBox="1"/>
          <p:nvPr>
            <p:ph idx="1" type="subTitle"/>
          </p:nvPr>
        </p:nvSpPr>
        <p:spPr>
          <a:xfrm>
            <a:off x="724950" y="1970850"/>
            <a:ext cx="36987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67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2400"/>
              <a:t>Visual Studio Code</a:t>
            </a:r>
            <a:endParaRPr sz="2400"/>
          </a:p>
          <a:p>
            <a:pPr indent="-3467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2400"/>
              <a:t>Python &gt;= 3.13</a:t>
            </a:r>
            <a:endParaRPr sz="2400"/>
          </a:p>
          <a:p>
            <a:pPr indent="-3467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2400"/>
              <a:t>Extensiones de VS Code:</a:t>
            </a:r>
            <a:endParaRPr sz="2400"/>
          </a:p>
          <a:p>
            <a:pPr indent="-34671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 sz="2400"/>
              <a:t>Python </a:t>
            </a:r>
            <a:endParaRPr sz="2400"/>
          </a:p>
          <a:p>
            <a:pPr indent="-34671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 sz="2400"/>
              <a:t>GitHub Copilot Chat</a:t>
            </a:r>
            <a:endParaRPr sz="2400"/>
          </a:p>
          <a:p>
            <a:pPr indent="-3467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s" sz="2400"/>
              <a:t>Cuenta de GitHub</a:t>
            </a:r>
            <a:endParaRPr sz="2400"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0625" y="3484225"/>
            <a:ext cx="1304380" cy="6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2126" y="3484225"/>
            <a:ext cx="1304375" cy="73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2: Herramientas Low&amp;No-Code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¿A qui</a:t>
            </a:r>
            <a:r>
              <a:rPr lang="es"/>
              <a:t>én está dirigida cada herramienta?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Low&amp;No-Code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Profesionales con poco o nulo conocimiento de programación que requieran generar modelos de ML para responder preguntas urgentes del negocio. Por ejemplo: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Analistas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Business users</a:t>
            </a:r>
            <a:endParaRPr/>
          </a:p>
        </p:txBody>
      </p:sp>
      <p:sp>
        <p:nvSpPr>
          <p:cNvPr id="155" name="Google Shape;155;p2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AI-Assisted Coding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Orientado a profesionales con algo de experiencia en programación/ML que quieran escribir código de mejor calidad en menor tiempo.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Desarrolladores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Data Scientist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ML Engineers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Ventajas y desventajas de herramientas Low/No-Code</a:t>
            </a:r>
            <a:endParaRPr sz="1800"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8"/>
              <a:t>🟢 </a:t>
            </a:r>
            <a:r>
              <a:rPr b="1" lang="es"/>
              <a:t>Pros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MVP R</a:t>
            </a:r>
            <a:r>
              <a:rPr lang="es"/>
              <a:t>ápido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No requiere de experiencia en programación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Modelos listos para sacar a producción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Menos debugging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Bueno para sacar un modelo baseline</a:t>
            </a:r>
            <a:endParaRPr/>
          </a:p>
        </p:txBody>
      </p:sp>
      <p:sp>
        <p:nvSpPr>
          <p:cNvPr id="162" name="Google Shape;162;p2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🔴 </a:t>
            </a:r>
            <a:r>
              <a:rPr b="1" lang="es"/>
              <a:t>Contras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Poca o nula personalización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Herramientas tipo caja negra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Ingeniería de facetas restringida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Costo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Vendor lock-in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Bloque 4: Práctica con Databricks AutoML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730000" y="1318650"/>
            <a:ext cx="33009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Requisitos</a:t>
            </a:r>
            <a:endParaRPr/>
          </a:p>
        </p:txBody>
      </p:sp>
      <p:sp>
        <p:nvSpPr>
          <p:cNvPr id="173" name="Google Shape;173;p25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/>
              <a:t>Instrucciones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Descargar los datos de entrenamiento desde Kaggle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Crear un catálogo llamado “talleres”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Subir los datos de Kaggle al catálogo creado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En la parte de AI/ML ir a la sección de Experimentos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s" sz="1400"/>
              <a:t>Seleccionar la opción “Forecasting”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724950" y="1970850"/>
            <a:ext cx="3300900" cy="19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 sz="2400"/>
              <a:t>Crear una cuenta gratuita en Databricks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100" y="4135862"/>
            <a:ext cx="943400" cy="4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Referencias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Daran Johnson, </a:t>
            </a:r>
            <a:r>
              <a:rPr i="1" lang="es"/>
              <a:t>Time-Series Analysis in Python, </a:t>
            </a:r>
            <a:r>
              <a:rPr lang="es"/>
              <a:t>1 de abril de 2025, </a:t>
            </a:r>
            <a:r>
              <a:rPr lang="es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Medium</a:t>
            </a:r>
            <a:r>
              <a:rPr lang="es"/>
              <a:t>, visitado el 21 de junio de 2026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4"/>
              </a:rPr>
              <a:t>¿En qué consiste el machine learning sin código?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5"/>
              </a:rPr>
              <a:t>Databricks AutoML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6"/>
              </a:rPr>
              <a:t>How to Use AutoML to Develop ML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Lecturas de interés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 u="sng">
                <a:solidFill>
                  <a:schemeClr val="hlink"/>
                </a:solidFill>
                <a:hlinkClick r:id="rId7"/>
              </a:rPr>
              <a:t>How AI assistance impacts the formation of coding skills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